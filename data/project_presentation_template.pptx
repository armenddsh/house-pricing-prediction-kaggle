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Corbel"/>
      <p:regular r:id="rId17"/>
      <p:bold r:id="rId18"/>
      <p:italic r:id="rId19"/>
      <p:boldItalic r:id="rId20"/>
    </p:embeddedFont>
    <p:embeddedFont>
      <p:font typeface="Red Hat Display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boldItalic.fntdata"/><Relationship Id="rId22" Type="http://schemas.openxmlformats.org/officeDocument/2006/relationships/font" Target="fonts/RedHatDisplay-bold.fntdata"/><Relationship Id="rId21" Type="http://schemas.openxmlformats.org/officeDocument/2006/relationships/font" Target="fonts/RedHatDisplay-regular.fntdata"/><Relationship Id="rId24" Type="http://schemas.openxmlformats.org/officeDocument/2006/relationships/font" Target="fonts/RedHatDisplay-boldItalic.fntdata"/><Relationship Id="rId23" Type="http://schemas.openxmlformats.org/officeDocument/2006/relationships/font" Target="fonts/RedHatDispl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orbel-regular.fntdata"/><Relationship Id="rId16" Type="http://schemas.openxmlformats.org/officeDocument/2006/relationships/slide" Target="slides/slide11.xml"/><Relationship Id="rId19" Type="http://schemas.openxmlformats.org/officeDocument/2006/relationships/font" Target="fonts/Corbel-italic.fntdata"/><Relationship Id="rId18" Type="http://schemas.openxmlformats.org/officeDocument/2006/relationships/font" Target="fonts/Corbel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0cb781d38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b0cb781d3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0cb781d38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b0cb781d3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0cb781d38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b0cb781d3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0cb781d38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b0cb781d3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0cb781d38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b0cb781d3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0cb781d38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b0cb781d3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0cb781d38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b0cb781d3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://a.sh" TargetMode="External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45169" y="1532310"/>
            <a:ext cx="6215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GB" sz="2600"/>
              <a:t>House Prices</a:t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2600"/>
              <a:t>Predict the sales price for each house.</a:t>
            </a:r>
            <a:endParaRPr b="1" sz="26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865500" y="4407914"/>
            <a:ext cx="196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DATE:</a:t>
            </a:r>
            <a:r>
              <a:rPr b="0" i="0" lang="en-GB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08.01.2026</a:t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7325" y="-1708325"/>
            <a:ext cx="3605977" cy="54182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19411" y="4426371"/>
            <a:ext cx="21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www.universum-ks.org</a:t>
            </a:r>
            <a:endParaRPr b="0" i="0" sz="10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71944" y="3298982"/>
            <a:ext cx="6215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-GB" sz="28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Student(s):</a:t>
            </a:r>
            <a:r>
              <a:rPr b="1" lang="en-GB" sz="2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O.A, B.M, V.P &amp; </a:t>
            </a:r>
            <a:r>
              <a:rPr b="1" lang="en-GB" sz="2800">
                <a:solidFill>
                  <a:schemeClr val="dk1"/>
                </a:solidFill>
                <a:uFill>
                  <a:noFill/>
                </a:uFill>
                <a:latin typeface="Red Hat Display"/>
                <a:ea typeface="Red Hat Display"/>
                <a:cs typeface="Red Hat Display"/>
                <a:sym typeface="Red Hat Displ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A.SH</a:t>
            </a:r>
            <a:br>
              <a:rPr b="1" i="0" lang="en-GB" sz="28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</a:br>
            <a:r>
              <a:rPr b="1" i="0" lang="en-GB" sz="28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Profesor: </a:t>
            </a:r>
            <a:r>
              <a:rPr b="1" i="0" lang="en-GB" sz="28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</a:t>
            </a:r>
            <a:r>
              <a:rPr b="1" lang="en-GB" sz="2800">
                <a:solidFill>
                  <a:schemeClr val="dk1"/>
                </a:solidFill>
              </a:rPr>
              <a:t>ë</a:t>
            </a:r>
            <a:r>
              <a:rPr b="1" i="0" lang="en-GB" sz="28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zim Sejdiu</a:t>
            </a:r>
            <a:endParaRPr b="1" i="0" sz="28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5179" y="219002"/>
            <a:ext cx="1837290" cy="53184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1935100" y="2370700"/>
            <a:ext cx="482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58625"/>
            <a:ext cx="4869900" cy="761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64814"/>
              <a:buNone/>
            </a:pPr>
            <a:r>
              <a:rPr b="1" lang="en-GB" sz="4800">
                <a:solidFill>
                  <a:srgbClr val="FF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Agenda</a:t>
            </a:r>
            <a:endParaRPr b="1" sz="4800">
              <a:solidFill>
                <a:srgbClr val="FF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789025"/>
            <a:ext cx="5637000" cy="3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Char char="-"/>
            </a:pPr>
            <a:r>
              <a:rPr lang="en-GB" sz="2800">
                <a:solidFill>
                  <a:srgbClr val="262626"/>
                </a:solidFill>
                <a:latin typeface="Corbel"/>
                <a:ea typeface="Corbel"/>
                <a:cs typeface="Corbel"/>
                <a:sym typeface="Corbel"/>
              </a:rPr>
              <a:t>The Problem</a:t>
            </a:r>
            <a:endParaRPr sz="2800">
              <a:solidFill>
                <a:srgbClr val="262626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Char char="-"/>
            </a:pPr>
            <a:r>
              <a:rPr lang="en-GB" sz="2800">
                <a:solidFill>
                  <a:srgbClr val="262626"/>
                </a:solidFill>
                <a:latin typeface="Corbel"/>
                <a:ea typeface="Corbel"/>
                <a:cs typeface="Corbel"/>
                <a:sym typeface="Corbel"/>
              </a:rPr>
              <a:t>Dataset &amp; Explore Data</a:t>
            </a:r>
            <a:endParaRPr sz="2800">
              <a:solidFill>
                <a:srgbClr val="262626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orbel"/>
              <a:buChar char="-"/>
            </a:pPr>
            <a:r>
              <a:rPr lang="en-GB" sz="2800">
                <a:solidFill>
                  <a:srgbClr val="262626"/>
                </a:solidFill>
                <a:latin typeface="Corbel"/>
                <a:ea typeface="Corbel"/>
                <a:cs typeface="Corbel"/>
                <a:sym typeface="Corbel"/>
              </a:rPr>
              <a:t>Prepare Data</a:t>
            </a:r>
            <a:endParaRPr sz="2800">
              <a:solidFill>
                <a:srgbClr val="262626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orbel"/>
              <a:buChar char="-"/>
            </a:pPr>
            <a:r>
              <a:rPr lang="en-GB" sz="2800">
                <a:solidFill>
                  <a:srgbClr val="262626"/>
                </a:solidFill>
                <a:latin typeface="Corbel"/>
                <a:ea typeface="Corbel"/>
                <a:cs typeface="Corbel"/>
                <a:sym typeface="Corbel"/>
              </a:rPr>
              <a:t>Features Identifying</a:t>
            </a:r>
            <a:endParaRPr sz="2800">
              <a:solidFill>
                <a:srgbClr val="262626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orbel"/>
              <a:buChar char="-"/>
            </a:pPr>
            <a:r>
              <a:rPr lang="en-GB" sz="2800">
                <a:solidFill>
                  <a:srgbClr val="262626"/>
                </a:solidFill>
                <a:latin typeface="Corbel"/>
                <a:ea typeface="Corbel"/>
                <a:cs typeface="Corbel"/>
                <a:sym typeface="Corbel"/>
              </a:rPr>
              <a:t>Model Selection</a:t>
            </a:r>
            <a:endParaRPr sz="2800">
              <a:solidFill>
                <a:srgbClr val="262626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orbel"/>
              <a:buChar char="-"/>
            </a:pPr>
            <a:r>
              <a:rPr lang="en-GB" sz="2800">
                <a:solidFill>
                  <a:srgbClr val="262626"/>
                </a:solidFill>
                <a:latin typeface="Corbel"/>
                <a:ea typeface="Corbel"/>
                <a:cs typeface="Corbel"/>
                <a:sym typeface="Corbel"/>
              </a:rPr>
              <a:t>Evaluate</a:t>
            </a:r>
            <a:endParaRPr sz="2800">
              <a:solidFill>
                <a:srgbClr val="262626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5800" y="1309975"/>
            <a:ext cx="2638198" cy="234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5650" y="0"/>
            <a:ext cx="9144000" cy="180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62275" y="2348400"/>
            <a:ext cx="4454100" cy="15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The problem:</a:t>
            </a:r>
            <a:r>
              <a:rPr lang="en-GB" sz="1900">
                <a:solidFill>
                  <a:schemeClr val="dk1"/>
                </a:solidFill>
              </a:rPr>
              <a:t> Predict house sale prices from property features despite missing values, categorical variables, and skewed price distribution.</a:t>
            </a:r>
            <a:endParaRPr b="0" i="0" sz="2600" u="none" cap="none" strike="noStrike">
              <a:solidFill>
                <a:srgbClr val="FF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86524" y="543183"/>
            <a:ext cx="6959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>
                <a:latin typeface="Red Hat Display"/>
                <a:ea typeface="Red Hat Display"/>
                <a:cs typeface="Red Hat Display"/>
                <a:sym typeface="Red Hat Display"/>
              </a:rPr>
              <a:t>The problem</a:t>
            </a:r>
            <a:endParaRPr b="0" i="0" sz="11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1675" y="445451"/>
            <a:ext cx="1032325" cy="91739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728775" y="2632175"/>
            <a:ext cx="482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5075" y="2122800"/>
            <a:ext cx="3676502" cy="275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5650" y="0"/>
            <a:ext cx="9144000" cy="180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43975" y="3244725"/>
            <a:ext cx="8192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Checked dataset shape, feature types (</a:t>
            </a:r>
            <a:r>
              <a:rPr b="1" lang="en-GB">
                <a:solidFill>
                  <a:schemeClr val="dk1"/>
                </a:solidFill>
              </a:rPr>
              <a:t>numeric + categorical</a:t>
            </a:r>
            <a:r>
              <a:rPr lang="en-GB">
                <a:solidFill>
                  <a:schemeClr val="dk1"/>
                </a:solidFill>
              </a:rPr>
              <a:t>), and basic summary statistics.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Audited </a:t>
            </a:r>
            <a:r>
              <a:rPr b="1" lang="en-GB">
                <a:solidFill>
                  <a:schemeClr val="dk1"/>
                </a:solidFill>
              </a:rPr>
              <a:t>missing values</a:t>
            </a:r>
            <a:r>
              <a:rPr lang="en-GB">
                <a:solidFill>
                  <a:schemeClr val="dk1"/>
                </a:solidFill>
              </a:rPr>
              <a:t> and identified columns where missing often means “Not available” (e.g., no basement/garage/pool).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Inspected the target (</a:t>
            </a:r>
            <a:r>
              <a:rPr b="1" lang="en-GB">
                <a:solidFill>
                  <a:schemeClr val="dk1"/>
                </a:solidFill>
              </a:rPr>
              <a:t>SalePrice</a:t>
            </a:r>
            <a:r>
              <a:rPr lang="en-GB">
                <a:solidFill>
                  <a:schemeClr val="dk1"/>
                </a:solidFill>
              </a:rPr>
              <a:t>) distribution — it is </a:t>
            </a:r>
            <a:r>
              <a:rPr b="1" lang="en-GB">
                <a:solidFill>
                  <a:schemeClr val="dk1"/>
                </a:solidFill>
              </a:rPr>
              <a:t>right-skewed</a:t>
            </a:r>
            <a:r>
              <a:rPr lang="en-GB">
                <a:solidFill>
                  <a:schemeClr val="dk1"/>
                </a:solidFill>
              </a:rPr>
              <a:t>, so we considered a </a:t>
            </a:r>
            <a:r>
              <a:rPr b="1" lang="en-GB">
                <a:solidFill>
                  <a:schemeClr val="dk1"/>
                </a:solidFill>
              </a:rPr>
              <a:t>log transform</a:t>
            </a:r>
            <a:r>
              <a:rPr lang="en-GB">
                <a:solidFill>
                  <a:schemeClr val="dk1"/>
                </a:solidFill>
              </a:rPr>
              <a:t> for modeling.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Used correlation / scatter plots to spot strong drivers (e.g., </a:t>
            </a:r>
            <a:r>
              <a:rPr b="1" lang="en-GB">
                <a:solidFill>
                  <a:schemeClr val="dk1"/>
                </a:solidFill>
              </a:rPr>
              <a:t>OverallQual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GrLivArea</a:t>
            </a:r>
            <a:r>
              <a:rPr lang="en-GB">
                <a:solidFill>
                  <a:schemeClr val="dk1"/>
                </a:solidFill>
              </a:rPr>
              <a:t>) and detect </a:t>
            </a:r>
            <a:r>
              <a:rPr b="1" lang="en-GB">
                <a:solidFill>
                  <a:schemeClr val="dk1"/>
                </a:solidFill>
              </a:rPr>
              <a:t>outliers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rgbClr val="262626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786524" y="543183"/>
            <a:ext cx="6959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>
                <a:latin typeface="Red Hat Display"/>
                <a:ea typeface="Red Hat Display"/>
                <a:cs typeface="Red Hat Display"/>
                <a:sym typeface="Red Hat Display"/>
              </a:rPr>
              <a:t>Dataset &amp; Explore Data</a:t>
            </a:r>
            <a:endParaRPr sz="40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1675" y="445451"/>
            <a:ext cx="1032325" cy="9173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443975" y="1936925"/>
            <a:ext cx="8192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Char char="●"/>
            </a:pPr>
            <a:r>
              <a:rPr lang="en-GB">
                <a:solidFill>
                  <a:srgbClr val="111827"/>
                </a:solidFill>
              </a:rPr>
              <a:t>Train: </a:t>
            </a:r>
            <a:r>
              <a:rPr b="1" lang="en-GB">
                <a:solidFill>
                  <a:srgbClr val="111827"/>
                </a:solidFill>
              </a:rPr>
              <a:t>1,460 rows</a:t>
            </a:r>
            <a:r>
              <a:rPr lang="en-GB">
                <a:solidFill>
                  <a:srgbClr val="111827"/>
                </a:solidFill>
              </a:rPr>
              <a:t>, </a:t>
            </a:r>
            <a:r>
              <a:rPr b="1" lang="en-GB">
                <a:solidFill>
                  <a:srgbClr val="111827"/>
                </a:solidFill>
              </a:rPr>
              <a:t>81 columns</a:t>
            </a:r>
            <a:r>
              <a:rPr lang="en-GB">
                <a:solidFill>
                  <a:srgbClr val="111827"/>
                </a:solidFill>
              </a:rPr>
              <a:t> (includes target SalePrice)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Char char="●"/>
            </a:pPr>
            <a:r>
              <a:rPr lang="en-GB">
                <a:solidFill>
                  <a:srgbClr val="111827"/>
                </a:solidFill>
              </a:rPr>
              <a:t>Test: </a:t>
            </a:r>
            <a:r>
              <a:rPr b="1" lang="en-GB">
                <a:solidFill>
                  <a:srgbClr val="111827"/>
                </a:solidFill>
              </a:rPr>
              <a:t>1,459 rows</a:t>
            </a:r>
            <a:r>
              <a:rPr lang="en-GB">
                <a:solidFill>
                  <a:srgbClr val="111827"/>
                </a:solidFill>
              </a:rPr>
              <a:t>, </a:t>
            </a:r>
            <a:r>
              <a:rPr b="1" lang="en-GB">
                <a:solidFill>
                  <a:srgbClr val="111827"/>
                </a:solidFill>
              </a:rPr>
              <a:t>80 columns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Char char="●"/>
            </a:pPr>
            <a:r>
              <a:rPr lang="en-GB">
                <a:solidFill>
                  <a:srgbClr val="111827"/>
                </a:solidFill>
              </a:rPr>
              <a:t>Mix of numeric (areas, counts, years) + categorical (zoning, neighborhood, condition)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Char char="●"/>
            </a:pPr>
            <a:r>
              <a:rPr lang="en-GB">
                <a:solidFill>
                  <a:srgbClr val="111827"/>
                </a:solidFill>
              </a:rPr>
              <a:t>Goal: predict sale price using feature engineering + tree-based models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134050" y="1262150"/>
            <a:ext cx="482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</a:rPr>
              <a:t>Target: Sales Price 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5650" y="0"/>
            <a:ext cx="9144000" cy="180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287400" y="1946325"/>
            <a:ext cx="5953500" cy="3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Removed non-informative identifiers (e.g., </a:t>
            </a:r>
            <a:r>
              <a:rPr b="1" lang="en-GB" sz="1100">
                <a:solidFill>
                  <a:schemeClr val="dk1"/>
                </a:solidFill>
              </a:rPr>
              <a:t>Id</a:t>
            </a:r>
            <a:r>
              <a:rPr lang="en-GB" sz="1100">
                <a:solidFill>
                  <a:schemeClr val="dk1"/>
                </a:solidFill>
              </a:rPr>
              <a:t>) and inspected columns with very high missingness.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Handled missing values using domain logic: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“Missing = not present” → filled with </a:t>
            </a:r>
            <a:r>
              <a:rPr b="1" lang="en-GB" sz="1100">
                <a:solidFill>
                  <a:schemeClr val="dk1"/>
                </a:solidFill>
              </a:rPr>
              <a:t>“None”</a:t>
            </a:r>
            <a:r>
              <a:rPr lang="en-GB" sz="1100">
                <a:solidFill>
                  <a:schemeClr val="dk1"/>
                </a:solidFill>
              </a:rPr>
              <a:t> for categorical amenities (basement/garage/fireplace, etc.).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Numeric quantities for absent features → filled with </a:t>
            </a:r>
            <a:r>
              <a:rPr b="1" lang="en-GB" sz="1100">
                <a:solidFill>
                  <a:schemeClr val="dk1"/>
                </a:solidFill>
              </a:rPr>
              <a:t>0</a:t>
            </a:r>
            <a:r>
              <a:rPr lang="en-GB" sz="1100">
                <a:solidFill>
                  <a:schemeClr val="dk1"/>
                </a:solidFill>
              </a:rPr>
              <a:t> (e.g., basement area when no basement).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Remaining categorical gaps → filled with </a:t>
            </a:r>
            <a:r>
              <a:rPr b="1" lang="en-GB" sz="1100">
                <a:solidFill>
                  <a:schemeClr val="dk1"/>
                </a:solidFill>
              </a:rPr>
              <a:t>mode</a:t>
            </a:r>
            <a:r>
              <a:rPr lang="en-GB" sz="1100">
                <a:solidFill>
                  <a:schemeClr val="dk1"/>
                </a:solidFill>
              </a:rPr>
              <a:t> (most frequent category).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Encoded categorical variables using </a:t>
            </a:r>
            <a:r>
              <a:rPr b="1" lang="en-GB" sz="1100">
                <a:solidFill>
                  <a:schemeClr val="dk1"/>
                </a:solidFill>
              </a:rPr>
              <a:t>one-hot encoding</a:t>
            </a:r>
            <a:r>
              <a:rPr lang="en-GB" sz="1100">
                <a:solidFill>
                  <a:schemeClr val="dk1"/>
                </a:solidFill>
              </a:rPr>
              <a:t> to convert them into model-ready features.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Split data into train/validation sets and ensured consistent preprocessing for both training and test data.</a:t>
            </a:r>
            <a:endParaRPr sz="1800">
              <a:solidFill>
                <a:srgbClr val="262626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786524" y="543183"/>
            <a:ext cx="6959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>
                <a:latin typeface="Red Hat Display"/>
                <a:ea typeface="Red Hat Display"/>
                <a:cs typeface="Red Hat Display"/>
                <a:sym typeface="Red Hat Display"/>
              </a:rPr>
              <a:t>Prepare</a:t>
            </a:r>
            <a:r>
              <a:rPr lang="en-GB" sz="4000">
                <a:latin typeface="Red Hat Display"/>
                <a:ea typeface="Red Hat Display"/>
                <a:cs typeface="Red Hat Display"/>
                <a:sym typeface="Red Hat Display"/>
              </a:rPr>
              <a:t> Data</a:t>
            </a:r>
            <a:endParaRPr b="0" i="0" sz="11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1675" y="445451"/>
            <a:ext cx="1032325" cy="917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9063" y="2571738"/>
            <a:ext cx="2238375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5650" y="0"/>
            <a:ext cx="9144000" cy="180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262275" y="1887675"/>
            <a:ext cx="54594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Reviewed all variables and grouped them into: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Numeric</a:t>
            </a:r>
            <a:r>
              <a:rPr lang="en-GB">
                <a:solidFill>
                  <a:schemeClr val="dk1"/>
                </a:solidFill>
              </a:rPr>
              <a:t> (areas, counts, years)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Categorical</a:t>
            </a:r>
            <a:r>
              <a:rPr lang="en-GB">
                <a:solidFill>
                  <a:schemeClr val="dk1"/>
                </a:solidFill>
              </a:rPr>
              <a:t> (neighborhood, style, zoning, quality ratings)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Identified the strongest predictive features using correlations and plots: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OverallQual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GrLivArea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TotalBsmtSF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GarageCars/GarageArea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YearBuilt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Flagged features with high missingness and clarified meaning of “missing” (often = no feature).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Detected potential </a:t>
            </a:r>
            <a:r>
              <a:rPr b="1" lang="en-GB">
                <a:solidFill>
                  <a:schemeClr val="dk1"/>
                </a:solidFill>
              </a:rPr>
              <a:t>outliers/influential points</a:t>
            </a:r>
            <a:r>
              <a:rPr lang="en-GB">
                <a:solidFill>
                  <a:schemeClr val="dk1"/>
                </a:solidFill>
              </a:rPr>
              <a:t> (e.g., unusually large living area) for careful handling in modeling.</a:t>
            </a:r>
            <a:endParaRPr>
              <a:solidFill>
                <a:srgbClr val="262626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786524" y="543183"/>
            <a:ext cx="6959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>
                <a:latin typeface="Red Hat Display"/>
                <a:ea typeface="Red Hat Display"/>
                <a:cs typeface="Red Hat Display"/>
                <a:sym typeface="Red Hat Display"/>
              </a:rPr>
              <a:t>Feature Identifying</a:t>
            </a:r>
            <a:endParaRPr b="0" i="0" sz="11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1675" y="445451"/>
            <a:ext cx="1032325" cy="917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6175" y="2636075"/>
            <a:ext cx="3285674" cy="184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/>
          <p:nvPr/>
        </p:nvSpPr>
        <p:spPr>
          <a:xfrm>
            <a:off x="5650" y="0"/>
            <a:ext cx="9144000" cy="180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253900" y="1921175"/>
            <a:ext cx="46467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Started with a simple baseline to set a reference performance.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Chosen candidate models that handle </a:t>
            </a:r>
            <a:r>
              <a:rPr b="1" lang="en-GB" sz="1200">
                <a:solidFill>
                  <a:schemeClr val="dk1"/>
                </a:solidFill>
              </a:rPr>
              <a:t>non-linear relationships</a:t>
            </a:r>
            <a:r>
              <a:rPr lang="en-GB" sz="1200">
                <a:solidFill>
                  <a:schemeClr val="dk1"/>
                </a:solidFill>
              </a:rPr>
              <a:t> and feature interactions well.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Selected </a:t>
            </a:r>
            <a:r>
              <a:rPr b="1" lang="en-GB" sz="1200">
                <a:solidFill>
                  <a:schemeClr val="dk1"/>
                </a:solidFill>
              </a:rPr>
              <a:t>Gradient Boosting Regressor</a:t>
            </a:r>
            <a:r>
              <a:rPr lang="en-GB" sz="1200">
                <a:solidFill>
                  <a:schemeClr val="dk1"/>
                </a:solidFill>
              </a:rPr>
              <a:t> as the main model due to strong accuracy on tabular data.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Used </a:t>
            </a:r>
            <a:r>
              <a:rPr b="1" lang="en-GB" sz="1200">
                <a:solidFill>
                  <a:schemeClr val="dk1"/>
                </a:solidFill>
              </a:rPr>
              <a:t>cross-validation</a:t>
            </a:r>
            <a:r>
              <a:rPr lang="en-GB" sz="1200">
                <a:solidFill>
                  <a:schemeClr val="dk1"/>
                </a:solidFill>
              </a:rPr>
              <a:t> to compare models fairly and reduce overfitting risk.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Tuned key hyperparameters (e.g., </a:t>
            </a:r>
            <a:r>
              <a:rPr b="1" lang="en-GB" sz="1200">
                <a:solidFill>
                  <a:schemeClr val="dk1"/>
                </a:solidFill>
              </a:rPr>
              <a:t>n_estimators</a:t>
            </a:r>
            <a:r>
              <a:rPr lang="en-GB" sz="1200">
                <a:solidFill>
                  <a:schemeClr val="dk1"/>
                </a:solidFill>
              </a:rPr>
              <a:t>, </a:t>
            </a:r>
            <a:r>
              <a:rPr b="1" lang="en-GB" sz="1200">
                <a:solidFill>
                  <a:schemeClr val="dk1"/>
                </a:solidFill>
              </a:rPr>
              <a:t>learning_rate</a:t>
            </a:r>
            <a:r>
              <a:rPr lang="en-GB" sz="1200">
                <a:solidFill>
                  <a:schemeClr val="dk1"/>
                </a:solidFill>
              </a:rPr>
              <a:t>, </a:t>
            </a:r>
            <a:r>
              <a:rPr b="1" lang="en-GB" sz="1200">
                <a:solidFill>
                  <a:schemeClr val="dk1"/>
                </a:solidFill>
              </a:rPr>
              <a:t>max_depth</a:t>
            </a:r>
            <a:r>
              <a:rPr lang="en-GB" sz="1200">
                <a:solidFill>
                  <a:schemeClr val="dk1"/>
                </a:solidFill>
              </a:rPr>
              <a:t>, </a:t>
            </a:r>
            <a:r>
              <a:rPr b="1" lang="en-GB" sz="1200">
                <a:solidFill>
                  <a:schemeClr val="dk1"/>
                </a:solidFill>
              </a:rPr>
              <a:t>min_samples_leaf</a:t>
            </a:r>
            <a:r>
              <a:rPr lang="en-GB" sz="1200">
                <a:solidFill>
                  <a:schemeClr val="dk1"/>
                </a:solidFill>
              </a:rPr>
              <a:t>) using </a:t>
            </a:r>
            <a:r>
              <a:rPr b="1" lang="en-GB" sz="1200">
                <a:solidFill>
                  <a:schemeClr val="dk1"/>
                </a:solidFill>
              </a:rPr>
              <a:t>GridSearchCV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62626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786524" y="543183"/>
            <a:ext cx="6959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>
                <a:latin typeface="Red Hat Display"/>
                <a:ea typeface="Red Hat Display"/>
                <a:cs typeface="Red Hat Display"/>
                <a:sym typeface="Red Hat Display"/>
              </a:rPr>
              <a:t>Model Selection</a:t>
            </a:r>
            <a:endParaRPr b="0" i="0" sz="11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1675" y="445451"/>
            <a:ext cx="1032325" cy="917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6825" y="2253450"/>
            <a:ext cx="4003900" cy="251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/>
          <p:nvPr/>
        </p:nvSpPr>
        <p:spPr>
          <a:xfrm>
            <a:off x="5650" y="0"/>
            <a:ext cx="9144000" cy="180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253900" y="1921175"/>
            <a:ext cx="4428900" cy="28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Used </a:t>
            </a:r>
            <a:r>
              <a:rPr b="1" lang="en-GB" sz="1100">
                <a:solidFill>
                  <a:schemeClr val="dk1"/>
                </a:solidFill>
              </a:rPr>
              <a:t>train/validation split</a:t>
            </a:r>
            <a:r>
              <a:rPr lang="en-GB" sz="1100">
                <a:solidFill>
                  <a:schemeClr val="dk1"/>
                </a:solidFill>
              </a:rPr>
              <a:t> plus </a:t>
            </a:r>
            <a:r>
              <a:rPr b="1" lang="en-GB" sz="1100">
                <a:solidFill>
                  <a:schemeClr val="dk1"/>
                </a:solidFill>
              </a:rPr>
              <a:t>k-fold cross-validation</a:t>
            </a:r>
            <a:r>
              <a:rPr lang="en-GB" sz="1100">
                <a:solidFill>
                  <a:schemeClr val="dk1"/>
                </a:solidFill>
              </a:rPr>
              <a:t> to estimate generalization performance.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Primary metric: </a:t>
            </a:r>
            <a:r>
              <a:rPr b="1" lang="en-GB" sz="1100">
                <a:solidFill>
                  <a:schemeClr val="dk1"/>
                </a:solidFill>
              </a:rPr>
              <a:t>RMSE</a:t>
            </a:r>
            <a:r>
              <a:rPr lang="en-GB" sz="1100">
                <a:solidFill>
                  <a:schemeClr val="dk1"/>
                </a:solidFill>
              </a:rPr>
              <a:t> on </a:t>
            </a:r>
            <a:r>
              <a:rPr b="1" lang="en-GB" sz="1100">
                <a:solidFill>
                  <a:schemeClr val="dk1"/>
                </a:solidFill>
              </a:rPr>
              <a:t>log(SalePrice)</a:t>
            </a:r>
            <a:r>
              <a:rPr lang="en-GB" sz="1100">
                <a:solidFill>
                  <a:schemeClr val="dk1"/>
                </a:solidFill>
              </a:rPr>
              <a:t> (reduces skew and penalizes large errors).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Checked model diagnostics with plots: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Predicted vs. Actual</a:t>
            </a:r>
            <a:r>
              <a:rPr lang="en-GB" sz="1100">
                <a:solidFill>
                  <a:schemeClr val="dk1"/>
                </a:solidFill>
              </a:rPr>
              <a:t> (should align close to the diagonal)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Residual distribution</a:t>
            </a:r>
            <a:r>
              <a:rPr lang="en-GB" sz="1100">
                <a:solidFill>
                  <a:schemeClr val="dk1"/>
                </a:solidFill>
              </a:rPr>
              <a:t> (should be centered around 0)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Verified the final pipeline works consistently on the </a:t>
            </a:r>
            <a:r>
              <a:rPr b="1" lang="en-GB" sz="1100">
                <a:solidFill>
                  <a:schemeClr val="dk1"/>
                </a:solidFill>
              </a:rPr>
              <a:t>test set</a:t>
            </a:r>
            <a:r>
              <a:rPr lang="en-GB" sz="1100">
                <a:solidFill>
                  <a:schemeClr val="dk1"/>
                </a:solidFill>
              </a:rPr>
              <a:t> and produced a submission-ready prediction file.</a:t>
            </a:r>
            <a:endParaRPr sz="1800">
              <a:solidFill>
                <a:srgbClr val="262626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786524" y="543183"/>
            <a:ext cx="6959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>
                <a:latin typeface="Red Hat Display"/>
                <a:ea typeface="Red Hat Display"/>
                <a:cs typeface="Red Hat Display"/>
                <a:sym typeface="Red Hat Display"/>
              </a:rPr>
              <a:t>Evaluation</a:t>
            </a:r>
            <a:endParaRPr b="0" i="0" sz="11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1675" y="445451"/>
            <a:ext cx="1032325" cy="917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8075" y="2062551"/>
            <a:ext cx="4211576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/>
          <p:nvPr/>
        </p:nvSpPr>
        <p:spPr>
          <a:xfrm>
            <a:off x="5650" y="0"/>
            <a:ext cx="9144000" cy="180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111475" y="2182713"/>
            <a:ext cx="46635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Best CV RMSE: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0.13503268427505083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Best model parameters (GradientBoostingRegressor):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learning_ra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e=0.01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max_depth=3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min_samples_leaf=5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n_estimators=800</a:t>
            </a:r>
            <a:b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Submission created:</a:t>
            </a:r>
            <a:r>
              <a:rPr lang="en-GB" sz="1100">
                <a:solidFill>
                  <a:schemeClr val="dk1"/>
                </a:solidFill>
              </a:rPr>
              <a:t> Predictions generated for </a:t>
            </a:r>
            <a:r>
              <a:rPr b="1" lang="en-GB" sz="1100">
                <a:solidFill>
                  <a:schemeClr val="dk1"/>
                </a:solidFill>
              </a:rPr>
              <a:t>1459</a:t>
            </a:r>
            <a:r>
              <a:rPr lang="en-GB" sz="1100">
                <a:solidFill>
                  <a:schemeClr val="dk1"/>
                </a:solidFill>
              </a:rPr>
              <a:t> test houses (matches test set size).</a:t>
            </a:r>
            <a:endParaRPr sz="1800">
              <a:solidFill>
                <a:srgbClr val="262626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786524" y="543183"/>
            <a:ext cx="6959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>
                <a:latin typeface="Red Hat Display"/>
                <a:ea typeface="Red Hat Display"/>
                <a:cs typeface="Red Hat Display"/>
                <a:sym typeface="Red Hat Display"/>
              </a:rPr>
              <a:t>Results</a:t>
            </a:r>
            <a:endParaRPr b="0" i="0" sz="11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1675" y="445451"/>
            <a:ext cx="1032325" cy="917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0225" y="1859700"/>
            <a:ext cx="3926575" cy="308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/>
          <p:nvPr/>
        </p:nvSpPr>
        <p:spPr>
          <a:xfrm>
            <a:off x="5650" y="0"/>
            <a:ext cx="9144000" cy="180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786524" y="543183"/>
            <a:ext cx="6959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>
                <a:latin typeface="Red Hat Display"/>
                <a:ea typeface="Red Hat Display"/>
                <a:cs typeface="Red Hat Display"/>
                <a:sym typeface="Red Hat Display"/>
              </a:rPr>
              <a:t>Demo</a:t>
            </a:r>
            <a:endParaRPr b="0" i="0" sz="11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1675" y="445451"/>
            <a:ext cx="1032325" cy="91739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929850" y="2588500"/>
            <a:ext cx="482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2"/>
                </a:solidFill>
              </a:rPr>
              <a:t>Streamlit</a:t>
            </a:r>
            <a:endParaRPr b="1"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6865500" y="4407914"/>
            <a:ext cx="1966800" cy="3539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EEEEE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DATE:</a:t>
            </a:r>
            <a:endParaRPr b="0" i="0" sz="14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7325" y="-1708325"/>
            <a:ext cx="3605977" cy="541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/>
        </p:nvSpPr>
        <p:spPr>
          <a:xfrm>
            <a:off x="419411" y="4426371"/>
            <a:ext cx="21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www.universum-ks.org</a:t>
            </a:r>
            <a:endParaRPr b="0" i="0" sz="10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457" y="3557500"/>
            <a:ext cx="461500" cy="4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9432" y="3551300"/>
            <a:ext cx="461500" cy="4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08882" y="3557500"/>
            <a:ext cx="461500" cy="4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76579" y="3562887"/>
            <a:ext cx="461500" cy="46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311711" y="3961096"/>
            <a:ext cx="21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Kolegji Universum</a:t>
            </a:r>
            <a:endParaRPr b="0" i="0" sz="10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1793236" y="3944909"/>
            <a:ext cx="21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universumcollege</a:t>
            </a:r>
            <a:endParaRPr b="0" i="0" sz="10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3510011" y="3961096"/>
            <a:ext cx="21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universuminternationalcollege</a:t>
            </a:r>
            <a:endParaRPr b="0" i="0" sz="10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5395986" y="3961096"/>
            <a:ext cx="21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info@universum-ks.org</a:t>
            </a:r>
            <a:endParaRPr b="0" i="0" sz="10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311700" y="1837300"/>
            <a:ext cx="574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GB" sz="4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THANK YOU</a:t>
            </a:r>
            <a:endParaRPr b="1" i="0" sz="48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0180" y="327908"/>
            <a:ext cx="2334244" cy="675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